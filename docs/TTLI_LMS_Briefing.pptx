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31F20"/>
                </a:solidFill>
                <a:latin typeface="Georgia"/>
              </a:rPr>
              <a:t>Themba Thandeka Leadership Institute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3891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SCOPING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B8280"/>
                </a:solidFill>
                <a:latin typeface="IBM Plex Mono"/>
              </a:rPr>
              <a:t>LEARNING MANAGEMENT SYSTEM · PLATFORM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231F20"/>
                </a:solidFill>
                <a:latin typeface="Georgia"/>
              </a:rPr>
              <a:t>A platform built to sell, deliver and certify executive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5B5451"/>
                </a:solidFill>
                <a:latin typeface="IBM Plex Sans"/>
              </a:rPr>
              <a:t>What a Learning Management System is, what TTLI's platform is designed to do beyond the standard toolkit, and the decisions we need from you before engineering begins.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23560"/>
            <a:ext cx="10881360" cy="12700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Prepared for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31F20"/>
                </a:solidFill>
                <a:latin typeface="IBM Plex Sans"/>
              </a:rPr>
              <a:t>TTLI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8064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Status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31F20"/>
                </a:solidFill>
                <a:latin typeface="IBM Plex Sans"/>
              </a:rPr>
              <a:t>Phase 0 — Discovery &amp;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80644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Date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31F20"/>
                </a:solidFill>
                <a:latin typeface="IBM Plex Sans"/>
              </a:rPr>
              <a:t>11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31F20"/>
                </a:solidFill>
                <a:latin typeface="Georgia"/>
              </a:rPr>
              <a:t>What a Learning Management System actually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B5451"/>
                </a:solidFill>
                <a:latin typeface="IBM Plex Sans"/>
              </a:rPr>
              <a:t>Software that hosts, sequences and tracks structured learning — then proves it happened. For TTLI, it is the difference between “content on a website” and a product a corporate buyer can put a purchase order against.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1ECE8"/>
          </a:solidFill>
          <a:ln w="9525">
            <a:solidFill>
              <a:srgbClr val="F1E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54864" cy="13716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8E151C"/>
                </a:solidFill>
                <a:latin typeface="Georgia"/>
              </a:rPr>
              <a:t>Learning Management System, 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A platform that organises courses into a structured hierarchy, controls who can access what and when, records genuine progress against each learner, and issues credentials only once completion rules are actually satisfied — not merely clicked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i="0">
                <a:solidFill>
                  <a:srgbClr val="8E151C"/>
                </a:solidFill>
                <a:latin typeface="IBM Plex Mono"/>
              </a:rPr>
              <a:t>Deliver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8B8280"/>
                </a:solidFill>
                <a:latin typeface="IBM Plex Sans"/>
              </a:rPr>
              <a:t>Video, documents, quizzes, live sessions — in a defined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11480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79392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i="0">
                <a:solidFill>
                  <a:srgbClr val="8E151C"/>
                </a:solidFill>
                <a:latin typeface="IBM Plex Mono"/>
              </a:rPr>
              <a:t>Verify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8B8280"/>
                </a:solidFill>
                <a:latin typeface="IBM Plex Sans"/>
              </a:rPr>
              <a:t>Server-side proof that a learner actually did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11480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279392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 i="0">
                <a:solidFill>
                  <a:srgbClr val="8E151C"/>
                </a:solidFill>
                <a:latin typeface="IBM Plex Mono"/>
              </a:rPr>
              <a:t>Certify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8B8280"/>
                </a:solidFill>
                <a:latin typeface="IBM Plex Sans"/>
              </a:rPr>
              <a:t>A credential worth putting in front of an employer or LinkedIn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31F20"/>
                </a:solidFill>
                <a:latin typeface="Georgia"/>
              </a:rPr>
              <a:t>What every serious LMS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This is table stakes — the feature set a buyer expects from Coursera, LinkedIn Learning or a Gartner-style platform before TTLI's own requirements are even discussed.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4231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Course authoring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Course → module → lesson hierarchy, drip release, prerequisites and bundles.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2402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4231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7432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Progress tracking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Resume-where-you-left-off, completion states, per-lesson time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24231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7432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Assessments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Quizzes, question banks, auto-grading and manual review for open answers.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22402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07424" y="24231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27432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Certificates &amp; badges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PDF credentials, verification pages, shareable badges.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2519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Reporting dashboards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Completion rates, at-risk learners, revenue and engagement, at a glance.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40690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84448" y="42519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45720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Roles &amp; permissions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Learner, facilitator, admin, finance — each seeing only what they should.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0690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42519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5720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Notifications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Reminders, deadlines and progress nudges by email.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24544" y="4069080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07424" y="4251960"/>
            <a:ext cx="201168" cy="20116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4572000"/>
            <a:ext cx="22585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Responsive access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 i="0">
                <a:solidFill>
                  <a:srgbClr val="8B8280"/>
                </a:solidFill>
                <a:latin typeface="IBM Plex Sans"/>
              </a:rPr>
              <a:t>Full functionality on desktop, tablet and mobile browsers.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231F20"/>
                </a:solidFill>
                <a:latin typeface="Georgia"/>
              </a:rPr>
              <a:t>What TTLI's platform is built to cater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B5451"/>
                </a:solidFill>
                <a:latin typeface="IBM Plex Sans"/>
              </a:rPr>
              <a:t>Beyond the baseline, this platform is the storefront, CRM and billing spine TTLI doesn't have today — sized for executive buyers who expect an invoice, not a shopping cart.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240280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Card, EFT and purchase-order checkout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Sequential, gapless, SARS-exportable invoicing with an append-only 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0280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Anti-bypass completion engine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Every progression decision made server-side — clicking “Next” eleven times buys nothing.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91256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3741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CORPORATE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3282696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Seats, orgs and private manager views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Managers see aggregate progress only by default — individual scores stay 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91256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37413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82696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Facilitated workshops via Microsoft Teams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1:1 coaching and cohort sessions, booking, capacity and attendance built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33672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165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4325112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Verifiable certificates, LinkedIn-ready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Public QR verification page; CPD points where an accreditation body applies.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233672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44165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AI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325112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Redacted, cohort-level analytics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Survey and assessment insight with identifiers stripped before any prompt leaves the platform.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76088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4589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5367528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ZAR and USD, side by side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South African and international buyers on one storefront, VAT-aware.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276088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54589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RESIDENCY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367528"/>
            <a:ext cx="3977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31F20"/>
                </a:solidFill>
                <a:latin typeface="IBM Plex Sans"/>
              </a:rPr>
              <a:t>Lean, South Africa-hosted infrastructure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8B8280"/>
                </a:solidFill>
                <a:latin typeface="IBM Plex Sans"/>
              </a:rPr>
              <a:t>Cost that doesn't consume early revenue; data kept in-region.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31F20"/>
                </a:solidFill>
                <a:latin typeface="Georgia"/>
              </a:rPr>
              <a:t>Eight phases, each one demoable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Nothing ships as a black box. Every phase below ends with something you can click through yourself.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488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8E151C"/>
                </a:solidFill>
                <a:latin typeface="IBM Plex Sans"/>
              </a:rPr>
              <a:t>Discovery &amp;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23113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900" b="1">
                <a:solidFill>
                  <a:srgbClr val="7A1319"/>
                </a:solidFill>
                <a:latin typeface="IBM Plex Mono"/>
              </a:rPr>
              <a:t>BLOCKED ON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488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Decision register, wireframes, content inventory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060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060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Tenancy, identity, policy engine, storage, 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632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Public site &amp; 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0632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Marketing site, resource hub, leads, guest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776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04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5204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Card, EFT, PO, invoicing, ledger, VAT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9776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Core LMS &amp; 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9776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Player, rule engine, assessments, certificates, badges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4348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PWA &amp; accessibility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4348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Installable, WCAG 2.1 AA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92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8920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Corporate &amp; workshops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8920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Organisations, seats, manager views, Teams, campaigns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492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3492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AI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3492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Redaction gateway, provider adapters, cohort insights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26364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0644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8064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231F20"/>
                </a:solidFill>
                <a:latin typeface="IBM Plex Sans"/>
              </a:rPr>
              <a:t>Hardening &amp;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80644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80"/>
                </a:solidFill>
                <a:latin typeface="IBM Plex Sans"/>
              </a:rPr>
              <a:t>Terraform, pen test, load test, DR drill, go-live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DECISION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31F20"/>
                </a:solidFill>
                <a:latin typeface="Georgia"/>
              </a:rPr>
              <a:t>Ten decisions blocking Phase 0 sign-off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B5451"/>
                </a:solidFill>
                <a:latin typeface="IBM Plex Sans"/>
              </a:rPr>
              <a:t>Engineering does not start until these are closed — each one changes the architecture, not just the copy.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solidFill>
            <a:srgbClr val="F1ECE8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848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Is SCORM/xAPI required?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Changes the content model at its root.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574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420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VAT on international digital services?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The tax engine can't be built on a guess.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514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Your accountants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solidFill>
            <a:srgbClr val="F1ECE8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992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Is signed HLS + watermark acceptable at launch?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If not, a DRM provider joins the critical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718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4564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Which AI provider, and is a DPA signed?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Determines whether AI insight ships under residency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4290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 + legal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solidFill>
            <a:srgbClr val="F1ECE8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136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Guest access window: 7 or 14 days?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Both were on the table; neither was chosen.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8862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3708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CPD / accreditation body, if any?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Determines mandatory certificate fields.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3434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solidFill>
            <a:srgbClr val="F1ECE8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8280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Brand and design system?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Reverse-engineered from your site — blocks UI work until confirmed.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800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2852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Budget and target launch date?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Determines phase sequencing and team size.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2578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You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solidFill>
            <a:srgbClr val="F1ECE8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7424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Azure region availability, South Africa North?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App Service is the documented fallback.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7150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B5451"/>
                </a:solidFill>
                <a:latin typeface="IBM Plex Mono"/>
              </a:rPr>
              <a:t>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1722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6199632"/>
            <a:ext cx="795527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Subscriptions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8B8280"/>
                </a:solidFill>
                <a:latin typeface="IBM Plex Sans"/>
              </a:rPr>
              <a:t>Resolved — in, EFT/PO-funded, no auto card billing.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61722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3F6B4E"/>
                </a:solidFill>
                <a:latin typeface="IBM Plex Mono"/>
              </a:rPr>
              <a:t>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BEFORE WE CAN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31F20"/>
                </a:solidFill>
                <a:latin typeface="Georgia"/>
              </a:rPr>
              <a:t>What we still need from your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Beyond the ten blocking decisions, launch depends on real assets and accounts only TTLI can provide.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LEGAL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1576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Information Officer — name, email, address for POPIA correspondence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Lawyer's sign-off on Privacy Policy and Terms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Actual refund policy, not “case-by-case”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134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FINANCE &amp;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1576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Payfast merchant ID, key and passphrase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Real bank details for EFT payers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Invoice numbering start point — must not collide with existing manual invoices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622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CONTENT &amp; 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6460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The actual course catalogue — titles, outcomes, module structure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Source video files per lesson, for transcode sizing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Certificate template — logo, layout, signatory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2976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622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INFRASTRUCTURE &amp;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6460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Transactional email provider with SMTP-AUTH (SendGrid, Mailgun, etc.)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Sentry account — the API won't start in production without one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 i="0">
                <a:solidFill>
                  <a:srgbClr val="5B5451"/>
                </a:solidFill>
                <a:latin typeface="IBM Plex Sans"/>
              </a:rPr>
              <a:t>•  Domain / DNS access, and cloud provider billing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292608" cy="292608"/>
          </a:xfrm>
          <a:prstGeom prst="ellipse">
            <a:avLst/>
          </a:prstGeom>
          <a:solidFill>
            <a:srgbClr val="8E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754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8E151C"/>
                </a:solidFill>
                <a:latin typeface="IBM Plex Mono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31F20"/>
                </a:solidFill>
                <a:latin typeface="Georgia"/>
              </a:rPr>
              <a:t>Immediate next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8E151C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37944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Put the ten-item decision register to TTLI leadership as a single sign-off, not a drip of separate emails.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41448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41448"/>
            <a:ext cx="548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8E151C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96312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Get the accountants' written position on VAT for international digital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9816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99816"/>
            <a:ext cx="548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8E151C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Confirm Azure South Africa North availability before committing to the region.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58184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58184"/>
            <a:ext cx="548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8E151C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13048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Inventory the existing video and podcast library to size the transcode workload.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16552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16552"/>
            <a:ext cx="5486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1">
                <a:solidFill>
                  <a:srgbClr val="8E151C"/>
                </a:solidFill>
                <a:latin typeface="Georg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71416"/>
            <a:ext cx="9875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B5451"/>
                </a:solidFill>
                <a:latin typeface="IBM Plex Sans"/>
              </a:rPr>
              <a:t>Register Payfast and Netcash sandbox accounts — both sit on the commerce critical path and provisioning isn't instant.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881360" cy="9525"/>
          </a:xfrm>
          <a:prstGeom prst="rect">
            <a:avLst/>
          </a:prstGeom>
          <a:solidFill>
            <a:srgbClr val="E2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31F20"/>
                </a:solidFill>
                <a:latin typeface="IBM Plex Sans"/>
              </a:rPr>
              <a:t>TTLI LMS Platform · Phase 0 Discovery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263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8B8280"/>
                </a:solidFill>
                <a:latin typeface="IBM Plex Sans"/>
              </a:rPr>
              <a:t>Prepared 11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